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notesTextViewPr/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3E8E7E"/>
          </a:solidFill>
          <a:ln>
            <a:noFill/>
          </a:ln>
        </p:spPr>
      </p:sp>
      <p:sp>
        <p:nvSpPr>
          <p:cNvPr id="4" name="shape"/>
          <p:cNvSpPr/>
          <p:nvPr/>
        </p:nvSpPr>
        <p:spPr>
          <a:xfrm>
            <a:off x="914400" y="1900000"/>
            <a:ext cx="90000" cy="900000"/>
          </a:xfrm>
          <a:prstGeom prst="rect">
            <a:avLst/>
          </a:prstGeom>
          <a:solidFill>
            <a:srgbClr val="3E8E7E"/>
          </a:solidFill>
          <a:ln>
            <a:noFill/>
          </a:ln>
        </p:spPr>
      </p:sp>
      <p:sp>
        <p:nvSpPr>
          <p:cNvPr id="5" name="tb"/>
          <p:cNvSpPr txBox="1"/>
          <p:nvPr/>
        </p:nvSpPr>
        <p:spPr>
          <a:xfrm>
            <a:off x="1120000" y="1830000"/>
            <a:ext cx="96000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solidFill>
                  <a:srgbClr val="1F3B3A"/>
                </a:solidFill>
                <a:latin typeface="Microsoft YaHei"/>
                <a:ea typeface="Microsoft YaHei"/>
              </a:rPr>
              <a:t>ESG</a:t>
            </a:r>
          </a:p>
        </p:txBody>
      </p:sp>
      <p:sp>
        <p:nvSpPr>
          <p:cNvPr id="6" name="tb"/>
          <p:cNvSpPr txBox="1"/>
          <p:nvPr/>
        </p:nvSpPr>
        <p:spPr>
          <a:xfrm>
            <a:off x="1120000" y="2820000"/>
            <a:ext cx="98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400" b="1" dirty="0">
                <a:solidFill>
                  <a:srgbClr val="1F3B3A"/>
                </a:solidFill>
                <a:latin typeface="Microsoft YaHei"/>
                <a:ea typeface="Microsoft YaHei"/>
              </a:rPr>
              <a:t>企业不只看利润</a:t>
            </a:r>
          </a:p>
        </p:txBody>
      </p:sp>
      <p:sp>
        <p:nvSpPr>
          <p:cNvPr id="7" name="tb"/>
          <p:cNvSpPr txBox="1"/>
          <p:nvPr/>
        </p:nvSpPr>
        <p:spPr>
          <a:xfrm>
            <a:off x="1120000" y="3760000"/>
            <a:ext cx="98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3E8E7E"/>
                </a:solidFill>
                <a:latin typeface="Microsoft YaHei"/>
                <a:ea typeface="Microsoft YaHei"/>
              </a:rPr>
              <a:t>Environmental   ·   Social   ·   Governance</a:t>
            </a:r>
          </a:p>
        </p:txBody>
      </p:sp>
      <p:sp>
        <p:nvSpPr>
          <p:cNvPr id="8" name="shape"/>
          <p:cNvSpPr/>
          <p:nvPr/>
        </p:nvSpPr>
        <p:spPr>
          <a:xfrm>
            <a:off x="1120000" y="4600000"/>
            <a:ext cx="1400000" cy="30000"/>
          </a:xfrm>
          <a:prstGeom prst="rect">
            <a:avLst/>
          </a:prstGeom>
          <a:solidFill>
            <a:srgbClr val="9BB3AF"/>
          </a:solidFill>
          <a:ln>
            <a:noFill/>
          </a:ln>
        </p:spPr>
      </p:sp>
      <p:sp>
        <p:nvSpPr>
          <p:cNvPr id="9" name="tb"/>
          <p:cNvSpPr txBox="1"/>
          <p:nvPr/>
        </p:nvSpPr>
        <p:spPr>
          <a:xfrm>
            <a:off x="1120000" y="4760000"/>
            <a:ext cx="98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5A6B69"/>
                </a:solidFill>
                <a:latin typeface="Microsoft YaHei"/>
                <a:ea typeface="Microsoft YaHei"/>
              </a:rPr>
              <a:t>环境、社会、治理 —— 一套衡量企业长期价值的语言</a:t>
            </a:r>
          </a:p>
        </p:txBody>
      </p:sp>
      <p:sp>
        <p:nvSpPr>
          <p:cNvPr id="10" name="tb"/>
          <p:cNvSpPr txBox="1"/>
          <p:nvPr/>
        </p:nvSpPr>
        <p:spPr>
          <a:xfrm>
            <a:off x="1120000" y="5980000"/>
            <a:ext cx="9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rgbClr val="9BB3AF"/>
                </a:solidFill>
                <a:latin typeface="Microsoft YaHei"/>
                <a:ea typeface="Microsoft YaHei"/>
              </a:rPr>
              <a:t>阿屿 × 小涵  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800000" y="760000"/>
            <a:ext cx="70000" cy="480000"/>
          </a:xfrm>
          <a:prstGeom prst="rect">
            <a:avLst/>
          </a:prstGeom>
          <a:solidFill>
            <a:srgbClr val="3E8E7E"/>
          </a:solidFill>
          <a:ln>
            <a:noFill/>
          </a:ln>
        </p:spPr>
      </p:sp>
      <p:sp>
        <p:nvSpPr>
          <p:cNvPr id="13" name="tb"/>
          <p:cNvSpPr txBox="1"/>
          <p:nvPr/>
        </p:nvSpPr>
        <p:spPr>
          <a:xfrm>
            <a:off x="960000" y="700000"/>
            <a:ext cx="9000000" cy="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 dirty="0">
                <a:solidFill>
                  <a:srgbClr val="1F3B3A"/>
                </a:solidFill>
                <a:latin typeface="Microsoft YaHei"/>
                <a:ea typeface="Microsoft YaHei"/>
              </a:rPr>
              <a:t>ESG 的三大支柱</a:t>
            </a:r>
          </a:p>
        </p:txBody>
      </p:sp>
      <p:sp>
        <p:nvSpPr>
          <p:cNvPr id="14" name="tb"/>
          <p:cNvSpPr txBox="1"/>
          <p:nvPr/>
        </p:nvSpPr>
        <p:spPr>
          <a:xfrm>
            <a:off x="960000" y="1300000"/>
            <a:ext cx="9000000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00" dirty="0">
                <a:solidFill>
                  <a:srgbClr val="5A6B69"/>
                </a:solidFill>
                <a:latin typeface="Microsoft YaHei"/>
                <a:ea typeface="Microsoft YaHei"/>
              </a:rPr>
              <a:t>三个维度，对应三类不同性质的长期风险</a:t>
            </a:r>
          </a:p>
        </p:txBody>
      </p:sp>
      <p:sp>
        <p:nvSpPr>
          <p:cNvPr id="15" name="shape"/>
          <p:cNvSpPr/>
          <p:nvPr/>
        </p:nvSpPr>
        <p:spPr>
          <a:xfrm>
            <a:off x="800000" y="2050000"/>
            <a:ext cx="3357333" cy="34500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>
            <a:noFill/>
          </a:ln>
        </p:spPr>
      </p:sp>
      <p:sp>
        <p:nvSpPr>
          <p:cNvPr id="16" name="tb"/>
          <p:cNvSpPr txBox="1"/>
          <p:nvPr/>
        </p:nvSpPr>
        <p:spPr>
          <a:xfrm>
            <a:off x="1060000" y="2290000"/>
            <a:ext cx="8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3E8E7E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17" name="tb"/>
          <p:cNvSpPr txBox="1"/>
          <p:nvPr/>
        </p:nvSpPr>
        <p:spPr>
          <a:xfrm>
            <a:off x="1060000" y="2950000"/>
            <a:ext cx="2837333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dirty="0">
                <a:solidFill>
                  <a:srgbClr val="1F3B3A"/>
                </a:solidFill>
                <a:latin typeface="Microsoft YaHei"/>
                <a:ea typeface="Microsoft YaHei"/>
              </a:rPr>
              <a:t>Environment 环境</a:t>
            </a:r>
          </a:p>
        </p:txBody>
      </p:sp>
      <p:sp>
        <p:nvSpPr>
          <p:cNvPr id="18" name="tb"/>
          <p:cNvSpPr txBox="1"/>
          <p:nvPr/>
        </p:nvSpPr>
        <p:spPr>
          <a:xfrm>
            <a:off x="1060000" y="3450000"/>
            <a:ext cx="2837333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碳排放与气候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能源与水资源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污染与废弃物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生物多样性</a:t>
            </a:r>
          </a:p>
        </p:txBody>
      </p:sp>
      <p:sp>
        <p:nvSpPr>
          <p:cNvPr id="19" name="shape"/>
          <p:cNvSpPr/>
          <p:nvPr/>
        </p:nvSpPr>
        <p:spPr>
          <a:xfrm>
            <a:off x="4417333" y="2050000"/>
            <a:ext cx="3357333" cy="34500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>
            <a:noFill/>
          </a:ln>
        </p:spPr>
      </p:sp>
      <p:sp>
        <p:nvSpPr>
          <p:cNvPr id="20" name="tb"/>
          <p:cNvSpPr txBox="1"/>
          <p:nvPr/>
        </p:nvSpPr>
        <p:spPr>
          <a:xfrm>
            <a:off x="4677333" y="2290000"/>
            <a:ext cx="8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3E8E7E"/>
                </a:solidFill>
                <a:latin typeface="Microsoft YaHei"/>
                <a:ea typeface="Microsoft YaHei"/>
              </a:rPr>
              <a:t>S</a:t>
            </a:r>
          </a:p>
        </p:txBody>
      </p:sp>
      <p:sp>
        <p:nvSpPr>
          <p:cNvPr id="21" name="tb"/>
          <p:cNvSpPr txBox="1"/>
          <p:nvPr/>
        </p:nvSpPr>
        <p:spPr>
          <a:xfrm>
            <a:off x="4677333" y="2950000"/>
            <a:ext cx="2837333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dirty="0">
                <a:solidFill>
                  <a:srgbClr val="1F3B3A"/>
                </a:solidFill>
                <a:latin typeface="Microsoft YaHei"/>
                <a:ea typeface="Microsoft YaHei"/>
              </a:rPr>
              <a:t>Social 社会</a:t>
            </a:r>
          </a:p>
        </p:txBody>
      </p:sp>
      <p:sp>
        <p:nvSpPr>
          <p:cNvPr id="22" name="tb"/>
          <p:cNvSpPr txBox="1"/>
          <p:nvPr/>
        </p:nvSpPr>
        <p:spPr>
          <a:xfrm>
            <a:off x="4677333" y="3450000"/>
            <a:ext cx="2837333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员工权益与安全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供应链劳工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产品与数据安全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社区关系</a:t>
            </a:r>
          </a:p>
        </p:txBody>
      </p:sp>
      <p:sp>
        <p:nvSpPr>
          <p:cNvPr id="23" name="shape"/>
          <p:cNvSpPr/>
          <p:nvPr/>
        </p:nvSpPr>
        <p:spPr>
          <a:xfrm>
            <a:off x="8034666" y="2050000"/>
            <a:ext cx="3357333" cy="34500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>
            <a:noFill/>
          </a:ln>
        </p:spPr>
      </p:sp>
      <p:sp>
        <p:nvSpPr>
          <p:cNvPr id="24" name="tb"/>
          <p:cNvSpPr txBox="1"/>
          <p:nvPr/>
        </p:nvSpPr>
        <p:spPr>
          <a:xfrm>
            <a:off x="8294666" y="2290000"/>
            <a:ext cx="8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solidFill>
                  <a:srgbClr val="3E8E7E"/>
                </a:solidFill>
                <a:latin typeface="Microsoft YaHei"/>
                <a:ea typeface="Microsoft YaHei"/>
              </a:rPr>
              <a:t>G</a:t>
            </a:r>
          </a:p>
        </p:txBody>
      </p:sp>
      <p:sp>
        <p:nvSpPr>
          <p:cNvPr id="25" name="tb"/>
          <p:cNvSpPr txBox="1"/>
          <p:nvPr/>
        </p:nvSpPr>
        <p:spPr>
          <a:xfrm>
            <a:off x="8294666" y="2950000"/>
            <a:ext cx="2837333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dirty="0">
                <a:solidFill>
                  <a:srgbClr val="1F3B3A"/>
                </a:solidFill>
                <a:latin typeface="Microsoft YaHei"/>
                <a:ea typeface="Microsoft YaHei"/>
              </a:rPr>
              <a:t>Governance 治理</a:t>
            </a:r>
          </a:p>
        </p:txBody>
      </p:sp>
      <p:sp>
        <p:nvSpPr>
          <p:cNvPr id="26" name="tb"/>
          <p:cNvSpPr txBox="1"/>
          <p:nvPr/>
        </p:nvSpPr>
        <p:spPr>
          <a:xfrm>
            <a:off x="8294666" y="3450000"/>
            <a:ext cx="2837333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董事会独立性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反腐败与合规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信息披露透明度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"/>
              </a:spcAft>
            </a:pPr>
            <a:r>
              <a:rPr lang="zh-CN" altLang="en-US" sz="1200" dirty="0">
                <a:solidFill>
                  <a:srgbClr val="5A6B69"/>
                </a:solidFill>
                <a:latin typeface="Microsoft YaHei"/>
                <a:ea typeface="Microsoft YaHei"/>
              </a:rPr>
              <a:t>· 高管薪酬</a:t>
            </a:r>
          </a:p>
        </p:txBody>
      </p:sp>
      <p:sp>
        <p:nvSpPr>
          <p:cNvPr id="27" name="tb"/>
          <p:cNvSpPr txBox="1"/>
          <p:nvPr/>
        </p:nvSpPr>
        <p:spPr>
          <a:xfrm>
            <a:off x="800000" y="5900000"/>
            <a:ext cx="105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9BB3AF"/>
                </a:solidFill>
                <a:latin typeface="Microsoft YaHei"/>
                <a:ea typeface="Microsoft YaHei"/>
              </a:rPr>
              <a:t>三者不是并列的清单，而是一个闭环：治理决定前两者能不能真正落地。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shape"/>
          <p:cNvSpPr/>
          <p:nvPr/>
        </p:nvSpPr>
        <p:spPr>
          <a:xfrm>
            <a:off x="0" y="6708000"/>
            <a:ext cx="12192000" cy="150000"/>
          </a:xfrm>
          <a:prstGeom prst="rect">
            <a:avLst/>
          </a:prstGeom>
          <a:solidFill>
            <a:srgbClr val="3E8E7E"/>
          </a:solidFill>
          <a:ln>
            <a:noFill/>
          </a:ln>
        </p:spPr>
      </p:sp>
      <p:sp>
        <p:nvSpPr>
          <p:cNvPr id="30" name="shape"/>
          <p:cNvSpPr/>
          <p:nvPr/>
        </p:nvSpPr>
        <p:spPr>
          <a:xfrm>
            <a:off x="800000" y="760000"/>
            <a:ext cx="70000" cy="480000"/>
          </a:xfrm>
          <a:prstGeom prst="rect">
            <a:avLst/>
          </a:prstGeom>
          <a:solidFill>
            <a:srgbClr val="3E8E7E"/>
          </a:solidFill>
          <a:ln>
            <a:noFill/>
          </a:ln>
        </p:spPr>
      </p:sp>
      <p:sp>
        <p:nvSpPr>
          <p:cNvPr id="31" name="tb"/>
          <p:cNvSpPr txBox="1"/>
          <p:nvPr/>
        </p:nvSpPr>
        <p:spPr>
          <a:xfrm>
            <a:off x="960000" y="700000"/>
            <a:ext cx="9000000" cy="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 dirty="0">
                <a:solidFill>
                  <a:srgbClr val="1F3B3A"/>
                </a:solidFill>
                <a:latin typeface="Microsoft YaHei"/>
                <a:ea typeface="Microsoft YaHei"/>
              </a:rPr>
              <a:t>为什么现在绕不过去</a:t>
            </a:r>
          </a:p>
        </p:txBody>
      </p:sp>
      <p:sp>
        <p:nvSpPr>
          <p:cNvPr id="32" name="tb"/>
          <p:cNvSpPr txBox="1"/>
          <p:nvPr/>
        </p:nvSpPr>
        <p:spPr>
          <a:xfrm>
            <a:off x="800000" y="1900000"/>
            <a:ext cx="7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9BB3A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33" name="tb"/>
          <p:cNvSpPr txBox="1"/>
          <p:nvPr/>
        </p:nvSpPr>
        <p:spPr>
          <a:xfrm>
            <a:off x="1500000" y="1860000"/>
            <a:ext cx="22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3E8E7E"/>
                </a:solidFill>
                <a:latin typeface="Microsoft YaHei"/>
                <a:ea typeface="Microsoft YaHei"/>
              </a:rPr>
              <a:t>规则变了</a:t>
            </a:r>
          </a:p>
        </p:txBody>
      </p:sp>
      <p:sp>
        <p:nvSpPr>
          <p:cNvPr id="34" name="tb"/>
          <p:cNvSpPr txBox="1"/>
          <p:nvPr/>
        </p:nvSpPr>
        <p:spPr>
          <a:xfrm>
            <a:off x="3700000" y="1860000"/>
            <a:ext cx="76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dirty="0">
                <a:solidFill>
                  <a:srgbClr val="5A6B69"/>
                </a:solidFill>
                <a:latin typeface="Microsoft YaHei"/>
                <a:ea typeface="Microsoft YaHei"/>
              </a:rPr>
              <a:t>ISSB 发布 IFRS S1 / S2，把可持续信息往财报体系里拉；欧盟 CSRD 要求审计与鉴证。</a:t>
            </a:r>
          </a:p>
        </p:txBody>
      </p:sp>
      <p:sp>
        <p:nvSpPr>
          <p:cNvPr id="35" name="tb"/>
          <p:cNvSpPr txBox="1"/>
          <p:nvPr/>
        </p:nvSpPr>
        <p:spPr>
          <a:xfrm>
            <a:off x="800000" y="2900000"/>
            <a:ext cx="7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9BB3A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6" name="tb"/>
          <p:cNvSpPr txBox="1"/>
          <p:nvPr/>
        </p:nvSpPr>
        <p:spPr>
          <a:xfrm>
            <a:off x="1500000" y="2860000"/>
            <a:ext cx="22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3E8E7E"/>
                </a:solidFill>
                <a:latin typeface="Microsoft YaHei"/>
                <a:ea typeface="Microsoft YaHei"/>
              </a:rPr>
              <a:t>钱跟着走</a:t>
            </a:r>
          </a:p>
        </p:txBody>
      </p:sp>
      <p:sp>
        <p:nvSpPr>
          <p:cNvPr id="37" name="tb"/>
          <p:cNvSpPr txBox="1"/>
          <p:nvPr/>
        </p:nvSpPr>
        <p:spPr>
          <a:xfrm>
            <a:off x="3700000" y="2860000"/>
            <a:ext cx="76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dirty="0">
                <a:solidFill>
                  <a:srgbClr val="5A6B69"/>
                </a:solidFill>
                <a:latin typeface="Microsoft YaHei"/>
                <a:ea typeface="Microsoft YaHei"/>
              </a:rPr>
              <a:t>ESG 基金、评级机构、银行信贷都在用这套指标给企业定价和定成本。</a:t>
            </a:r>
          </a:p>
        </p:txBody>
      </p:sp>
      <p:sp>
        <p:nvSpPr>
          <p:cNvPr id="38" name="tb"/>
          <p:cNvSpPr txBox="1"/>
          <p:nvPr/>
        </p:nvSpPr>
        <p:spPr>
          <a:xfrm>
            <a:off x="800000" y="3900000"/>
            <a:ext cx="7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9BB3A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9" name="tb"/>
          <p:cNvSpPr txBox="1"/>
          <p:nvPr/>
        </p:nvSpPr>
        <p:spPr>
          <a:xfrm>
            <a:off x="1500000" y="3860000"/>
            <a:ext cx="22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3E8E7E"/>
                </a:solidFill>
                <a:latin typeface="Microsoft YaHei"/>
                <a:ea typeface="Microsoft YaHei"/>
              </a:rPr>
              <a:t>风险变真了</a:t>
            </a:r>
          </a:p>
        </p:txBody>
      </p:sp>
      <p:sp>
        <p:nvSpPr>
          <p:cNvPr id="40" name="tb"/>
          <p:cNvSpPr txBox="1"/>
          <p:nvPr/>
        </p:nvSpPr>
        <p:spPr>
          <a:xfrm>
            <a:off x="3700000" y="3860000"/>
            <a:ext cx="76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dirty="0">
                <a:solidFill>
                  <a:srgbClr val="5A6B69"/>
                </a:solidFill>
                <a:latin typeface="Microsoft YaHei"/>
                <a:ea typeface="Microsoft YaHei"/>
              </a:rPr>
              <a:t>气候转型、供应链断链、声誉事件，都能直接打到现金流和资产负债表上。</a:t>
            </a:r>
          </a:p>
        </p:txBody>
      </p:sp>
      <p:sp>
        <p:nvSpPr>
          <p:cNvPr id="41" name="shape"/>
          <p:cNvSpPr/>
          <p:nvPr/>
        </p:nvSpPr>
        <p:spPr>
          <a:xfrm>
            <a:off x="800000" y="5100000"/>
            <a:ext cx="10592000" cy="1200000"/>
          </a:xfrm>
          <a:prstGeom prst="roundRect">
            <a:avLst>
              <a:gd name="adj" fmla="val 6000"/>
            </a:avLst>
          </a:prstGeom>
          <a:solidFill>
            <a:srgbClr val="F2F6F5"/>
          </a:solidFill>
          <a:ln>
            <a:noFill/>
          </a:ln>
        </p:spPr>
      </p:sp>
      <p:sp>
        <p:nvSpPr>
          <p:cNvPr id="42" name="tb"/>
          <p:cNvSpPr txBox="1"/>
          <p:nvPr/>
        </p:nvSpPr>
        <p:spPr>
          <a:xfrm>
            <a:off x="1080000" y="5180000"/>
            <a:ext cx="1000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1F3B3A"/>
                </a:solidFill>
                <a:latin typeface="Microsoft YaHei"/>
                <a:ea typeface="Microsoft YaHei"/>
              </a:rPr>
              <a:t>一句话：ESG 不是道德标签，是把长期风险提前写进报表和估值的那一栏。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">
  <a:themeElements>
    <a:clrScheme name="Clean">
      <a:dk1>
        <a:sysClr val="windowText" lastClr="000000"/>
      </a:dk1>
      <a:lt1>
        <a:sysClr val="window" lastClr="FFFFFF"/>
      </a:lt1>
      <a:dk2>
        <a:srgbClr val="1F3B3A"/>
      </a:dk2>
      <a:lt2>
        <a:srgbClr val="F2F6F5"/>
      </a:lt2>
      <a:accent1>
        <a:srgbClr val="3E8E7E"/>
      </a:accent1>
      <a:accent2>
        <a:srgbClr val="1F3B3A"/>
      </a:accent2>
      <a:accent3>
        <a:srgbClr val="9BB3AF"/>
      </a:accent3>
      <a:accent4>
        <a:srgbClr val="5A6B69"/>
      </a:accent4>
      <a:accent5>
        <a:srgbClr val="C8D6D2"/>
      </a:accent5>
      <a:accent6>
        <a:srgbClr val="E8EFEC"/>
      </a:accent6>
      <a:hlink>
        <a:srgbClr val="3E8E7E"/>
      </a:hlink>
      <a:folHlink>
        <a:srgbClr val="1F3B3A"/>
      </a:folHlink>
    </a:clrScheme>
    <a:fontScheme name="Clean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Clea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简介</dc:title>
  <dc:creator>阿屿</dc:creator>
</cp:coreProperties>
</file>